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30"/>
  </p:notesMasterIdLst>
  <p:sldIdLst>
    <p:sldId id="256" r:id="rId2"/>
    <p:sldId id="257" r:id="rId3"/>
    <p:sldId id="258" r:id="rId4"/>
    <p:sldId id="259" r:id="rId5"/>
    <p:sldId id="260" r:id="rId6"/>
    <p:sldId id="261" r:id="rId7"/>
    <p:sldId id="264"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14" autoAdjust="0"/>
    <p:restoredTop sz="94660"/>
  </p:normalViewPr>
  <p:slideViewPr>
    <p:cSldViewPr snapToGrid="0">
      <p:cViewPr varScale="1">
        <p:scale>
          <a:sx n="86" d="100"/>
          <a:sy n="86" d="100"/>
        </p:scale>
        <p:origin x="56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customXml" Target="../customXml/item2.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customXml" Target="../customXml/item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4E56EF4-5882-4B42-8BF1-1BBE0ED9ED7B}" type="datetimeFigureOut">
              <a:rPr lang="en-US" smtClean="0"/>
              <a:t>3/12/2024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677E9E-2E92-4894-9E5E-980008E82CAD}" type="slidenum">
              <a:rPr lang="en-US" smtClean="0"/>
              <a:t>‹#›</a:t>
            </a:fld>
            <a:endParaRPr lang="en-US"/>
          </a:p>
        </p:txBody>
      </p:sp>
    </p:spTree>
    <p:extLst>
      <p:ext uri="{BB962C8B-B14F-4D97-AF65-F5344CB8AC3E}">
        <p14:creationId xmlns:p14="http://schemas.microsoft.com/office/powerpoint/2010/main" val="34498253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3/12/2024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3/12/2024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3/12/2024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3/12/2024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3/12/2024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3/12/2024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3/12/2024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3/12/2024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3/12/2024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3/12/2024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3/12/2024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3/12/2024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3/12/2024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3/12/2024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3/12/2024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3/12/2024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157"/>
            <a:ext cx="2356674" cy="6853096"/>
            <a:chOff x="6627813" y="195610"/>
            <a:chExt cx="1952625" cy="5678141"/>
          </a:xfrm>
        </p:grpSpPr>
        <p:sp>
          <p:nvSpPr>
            <p:cNvPr id="11" name="Freeform 27"/>
            <p:cNvSpPr/>
            <p:nvPr/>
          </p:nvSpPr>
          <p:spPr bwMode="auto">
            <a:xfrm>
              <a:off x="6627813" y="195610"/>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3/12/2024</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txStyles>
    <p:title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5E8DC-D008-45D3-9D18-33FEB998B918}"/>
              </a:ext>
            </a:extLst>
          </p:cNvPr>
          <p:cNvSpPr>
            <a:spLocks noGrp="1"/>
          </p:cNvSpPr>
          <p:nvPr>
            <p:ph type="ctrTitle"/>
          </p:nvPr>
        </p:nvSpPr>
        <p:spPr>
          <a:xfrm>
            <a:off x="2478664" y="1166219"/>
            <a:ext cx="8915399" cy="2262781"/>
          </a:xfrm>
        </p:spPr>
        <p:txBody>
          <a:bodyPr/>
          <a:lstStyle/>
          <a:p>
            <a:r>
              <a:rPr lang="en-US" i="1" dirty="0">
                <a:latin typeface="Times New Roman" panose="02020603050405020304" pitchFamily="18" charset="0"/>
                <a:cs typeface="Times New Roman" panose="02020603050405020304" pitchFamily="18" charset="0"/>
              </a:rPr>
              <a:t>Online Bus Ticket Management Modeling</a:t>
            </a:r>
          </a:p>
        </p:txBody>
      </p:sp>
      <p:sp>
        <p:nvSpPr>
          <p:cNvPr id="3" name="Subtitle 2">
            <a:extLst>
              <a:ext uri="{FF2B5EF4-FFF2-40B4-BE49-F238E27FC236}">
                <a16:creationId xmlns:a16="http://schemas.microsoft.com/office/drawing/2014/main" id="{4AEE3BA3-FDB5-4ABD-8BBF-A8ED751CB8B4}"/>
              </a:ext>
            </a:extLst>
          </p:cNvPr>
          <p:cNvSpPr>
            <a:spLocks noGrp="1"/>
          </p:cNvSpPr>
          <p:nvPr>
            <p:ph type="subTitle" idx="1"/>
          </p:nvPr>
        </p:nvSpPr>
        <p:spPr>
          <a:xfrm>
            <a:off x="1887874" y="4104727"/>
            <a:ext cx="10096977" cy="2331583"/>
          </a:xfrm>
        </p:spPr>
        <p:txBody>
          <a:bodyPr>
            <a:normAutofit lnSpcReduction="10000"/>
          </a:bodyPr>
          <a:lstStyle/>
          <a:p>
            <a:r>
              <a:rPr lang="en-US" sz="2400" b="1" dirty="0">
                <a:latin typeface="Times New Roman" panose="02020603050405020304" pitchFamily="18" charset="0"/>
                <a:cs typeface="Times New Roman" panose="02020603050405020304" pitchFamily="18" charset="0"/>
              </a:rPr>
              <a:t>Presented by Group 4</a:t>
            </a:r>
          </a:p>
          <a:p>
            <a:pPr marL="285750" indent="-285750">
              <a:buFont typeface="Wingdings" panose="05000000000000000000" pitchFamily="2" charset="2"/>
              <a:buChar char="v"/>
            </a:pPr>
            <a:r>
              <a:rPr lang="en-US" b="1" dirty="0">
                <a:latin typeface="Times New Roman" panose="02020603050405020304" pitchFamily="18" charset="0"/>
                <a:cs typeface="Times New Roman" panose="02020603050405020304" pitchFamily="18" charset="0"/>
              </a:rPr>
              <a:t>Kyi Sin Linn</a:t>
            </a:r>
          </a:p>
          <a:p>
            <a:pPr marL="285750" indent="-285750">
              <a:buFont typeface="Wingdings" panose="05000000000000000000" pitchFamily="2" charset="2"/>
              <a:buChar char="v"/>
            </a:pPr>
            <a:r>
              <a:rPr lang="en-US" b="1" dirty="0">
                <a:latin typeface="Times New Roman" panose="02020603050405020304" pitchFamily="18" charset="0"/>
                <a:cs typeface="Times New Roman" panose="02020603050405020304" pitchFamily="18" charset="0"/>
              </a:rPr>
              <a:t>Kyaw Pyae Sone</a:t>
            </a:r>
          </a:p>
          <a:p>
            <a:pPr marL="285750" indent="-285750">
              <a:buFont typeface="Wingdings" panose="05000000000000000000" pitchFamily="2" charset="2"/>
              <a:buChar char="v"/>
            </a:pPr>
            <a:r>
              <a:rPr lang="en-US" b="1" dirty="0">
                <a:latin typeface="Times New Roman" panose="02020603050405020304" pitchFamily="18" charset="0"/>
                <a:cs typeface="Times New Roman" panose="02020603050405020304" pitchFamily="18" charset="0"/>
              </a:rPr>
              <a:t>Mya Thet Chel</a:t>
            </a:r>
          </a:p>
          <a:p>
            <a:pPr marL="285750" indent="-285750">
              <a:buFont typeface="Wingdings" panose="05000000000000000000" pitchFamily="2" charset="2"/>
              <a:buChar char="v"/>
            </a:pPr>
            <a:r>
              <a:rPr lang="en-US" b="1" dirty="0">
                <a:latin typeface="Times New Roman" panose="02020603050405020304" pitchFamily="18" charset="0"/>
                <a:cs typeface="Times New Roman" panose="02020603050405020304" pitchFamily="18" charset="0"/>
              </a:rPr>
              <a:t>Linn Latt Hsu</a:t>
            </a:r>
          </a:p>
          <a:p>
            <a:pPr marL="285750" indent="-285750">
              <a:buFont typeface="Wingdings" panose="05000000000000000000" pitchFamily="2" charset="2"/>
              <a:buChar char="v"/>
            </a:pPr>
            <a:r>
              <a:rPr lang="en-US" b="1" dirty="0">
                <a:latin typeface="Times New Roman" panose="02020603050405020304" pitchFamily="18" charset="0"/>
                <a:cs typeface="Times New Roman" panose="02020603050405020304" pitchFamily="18" charset="0"/>
              </a:rPr>
              <a:t>Paing Paing Ko</a:t>
            </a:r>
          </a:p>
        </p:txBody>
      </p:sp>
    </p:spTree>
    <p:extLst>
      <p:ext uri="{BB962C8B-B14F-4D97-AF65-F5344CB8AC3E}">
        <p14:creationId xmlns:p14="http://schemas.microsoft.com/office/powerpoint/2010/main" val="31109097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B1E90-4584-46EC-892B-0FD3F394E664}"/>
              </a:ext>
            </a:extLst>
          </p:cNvPr>
          <p:cNvSpPr>
            <a:spLocks noGrp="1"/>
          </p:cNvSpPr>
          <p:nvPr>
            <p:ph type="title"/>
          </p:nvPr>
        </p:nvSpPr>
        <p:spPr/>
        <p:txBody>
          <a:bodyPr/>
          <a:lstStyle/>
          <a:p>
            <a:r>
              <a:rPr lang="en-US" b="1" i="1" dirty="0">
                <a:latin typeface="Times New Roman" panose="02020603050405020304" pitchFamily="18" charset="0"/>
                <a:cs typeface="Times New Roman" panose="02020603050405020304" pitchFamily="18" charset="0"/>
              </a:rPr>
              <a:t>Table of Contents</a:t>
            </a:r>
          </a:p>
        </p:txBody>
      </p:sp>
      <p:sp>
        <p:nvSpPr>
          <p:cNvPr id="3" name="Content Placeholder 2">
            <a:extLst>
              <a:ext uri="{FF2B5EF4-FFF2-40B4-BE49-F238E27FC236}">
                <a16:creationId xmlns:a16="http://schemas.microsoft.com/office/drawing/2014/main" id="{1704550D-9EF4-4252-8579-ED493C99B830}"/>
              </a:ext>
            </a:extLst>
          </p:cNvPr>
          <p:cNvSpPr>
            <a:spLocks noGrp="1"/>
          </p:cNvSpPr>
          <p:nvPr>
            <p:ph idx="1"/>
          </p:nvPr>
        </p:nvSpPr>
        <p:spPr>
          <a:xfrm>
            <a:off x="2589212" y="1669002"/>
            <a:ext cx="8915400" cy="5188998"/>
          </a:xfrm>
        </p:spPr>
        <p:txBody>
          <a:bodyPr/>
          <a:lstStyle/>
          <a:p>
            <a:pPr marL="800100" lvl="1" indent="-4000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Introduction</a:t>
            </a:r>
          </a:p>
          <a:p>
            <a:pPr marL="800100" lvl="1" indent="-4000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Software Requirement Specification</a:t>
            </a:r>
          </a:p>
          <a:p>
            <a:pPr marL="800100" lvl="1" indent="-4000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Requirement Analysis Modeling</a:t>
            </a:r>
          </a:p>
          <a:p>
            <a:pPr marL="800100" lvl="1" indent="-4000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Scenario-Based Modeling</a:t>
            </a:r>
          </a:p>
          <a:p>
            <a:pPr marL="800100" lvl="1" indent="-4000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Class-Based Modeling</a:t>
            </a:r>
          </a:p>
          <a:p>
            <a:pPr marL="800100" lvl="1" indent="-4000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 Conceptual Data Modeling</a:t>
            </a:r>
          </a:p>
          <a:p>
            <a:pPr marL="800100" lvl="1" indent="-4000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Process Modeling</a:t>
            </a:r>
          </a:p>
          <a:p>
            <a:pPr marL="800100" lvl="1" indent="-4000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Behavior Modeling</a:t>
            </a:r>
          </a:p>
          <a:p>
            <a:pPr marL="800100" lvl="1" indent="-4000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Conclusion</a:t>
            </a:r>
          </a:p>
          <a:p>
            <a:pPr marL="400050" indent="-400050">
              <a:buFont typeface="+mj-lt"/>
              <a:buAutoNum type="romanUcPeriod"/>
            </a:pPr>
            <a:endParaRPr lang="en-US" dirty="0"/>
          </a:p>
        </p:txBody>
      </p:sp>
    </p:spTree>
    <p:extLst>
      <p:ext uri="{BB962C8B-B14F-4D97-AF65-F5344CB8AC3E}">
        <p14:creationId xmlns:p14="http://schemas.microsoft.com/office/powerpoint/2010/main" val="34033519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4AFF19-5977-43DD-8950-2B9BAF019B8E}"/>
              </a:ext>
            </a:extLst>
          </p:cNvPr>
          <p:cNvSpPr>
            <a:spLocks noGrp="1"/>
          </p:cNvSpPr>
          <p:nvPr>
            <p:ph type="title"/>
          </p:nvPr>
        </p:nvSpPr>
        <p:spPr/>
        <p:txBody>
          <a:bodyPr/>
          <a:lstStyle/>
          <a:p>
            <a:pPr algn="ctr"/>
            <a:r>
              <a:rPr lang="en-US" b="1" i="1" dirty="0">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F5E58623-0686-4A17-84C7-F9B49935CD9C}"/>
              </a:ext>
            </a:extLst>
          </p:cNvPr>
          <p:cNvSpPr>
            <a:spLocks noGrp="1"/>
          </p:cNvSpPr>
          <p:nvPr>
            <p:ph idx="1"/>
          </p:nvPr>
        </p:nvSpPr>
        <p:spPr/>
        <p:txBody>
          <a:bodyPr/>
          <a:lstStyle/>
          <a:p>
            <a:pPr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The traditional bus ticketing process often involves long queues, manual bookings, and a lack of real-time information. Recognizing the need for innovation, the Online Bus Ticket Management System is here to bridge the gap, providing a seamless and user-friendly solution for both travelers and bus operators.</a:t>
            </a:r>
          </a:p>
          <a:p>
            <a:pPr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Online Bus Ticket Management System, a revolutionary solution designed to enhance the efficiency and convenience of the travel industry. In a world that thrives on digital advancements, our system aims to redefine the way bus ticketing is managed and experienced.</a:t>
            </a:r>
          </a:p>
        </p:txBody>
      </p:sp>
    </p:spTree>
    <p:extLst>
      <p:ext uri="{BB962C8B-B14F-4D97-AF65-F5344CB8AC3E}">
        <p14:creationId xmlns:p14="http://schemas.microsoft.com/office/powerpoint/2010/main" val="37871151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A782B3-C439-40EF-9E24-D1BF3DB461C0}"/>
              </a:ext>
            </a:extLst>
          </p:cNvPr>
          <p:cNvSpPr>
            <a:spLocks noGrp="1"/>
          </p:cNvSpPr>
          <p:nvPr>
            <p:ph type="title"/>
          </p:nvPr>
        </p:nvSpPr>
        <p:spPr/>
        <p:txBody>
          <a:bodyPr/>
          <a:lstStyle/>
          <a:p>
            <a:r>
              <a:rPr lang="en-US" b="1" i="1" dirty="0">
                <a:latin typeface="Times New Roman" panose="02020603050405020304" pitchFamily="18" charset="0"/>
                <a:cs typeface="Times New Roman" panose="02020603050405020304" pitchFamily="18" charset="0"/>
              </a:rPr>
              <a:t>Software Requirement Specification</a:t>
            </a:r>
          </a:p>
        </p:txBody>
      </p:sp>
      <p:sp>
        <p:nvSpPr>
          <p:cNvPr id="3" name="Content Placeholder 2">
            <a:extLst>
              <a:ext uri="{FF2B5EF4-FFF2-40B4-BE49-F238E27FC236}">
                <a16:creationId xmlns:a16="http://schemas.microsoft.com/office/drawing/2014/main" id="{E18EFD59-0DB6-4B0B-8F90-56738F90E139}"/>
              </a:ext>
            </a:extLst>
          </p:cNvPr>
          <p:cNvSpPr>
            <a:spLocks noGrp="1"/>
          </p:cNvSpPr>
          <p:nvPr>
            <p:ph idx="1"/>
          </p:nvPr>
        </p:nvSpPr>
        <p:spPr/>
        <p:txBody>
          <a:bodyPr/>
          <a:lstStyle/>
          <a:p>
            <a:pPr marL="0" indent="0">
              <a:buNone/>
            </a:pPr>
            <a:r>
              <a:rPr lang="en-US" sz="2800" b="1" dirty="0">
                <a:latin typeface="Times New Roman" panose="02020603050405020304" pitchFamily="18" charset="0"/>
                <a:cs typeface="Times New Roman" panose="02020603050405020304" pitchFamily="18" charset="0"/>
              </a:rPr>
              <a:t>Purpose</a:t>
            </a:r>
          </a:p>
          <a:p>
            <a:pPr marL="0" indent="0" algn="just">
              <a:buNone/>
            </a:pPr>
            <a:r>
              <a:rPr lang="en-US" dirty="0">
                <a:latin typeface="Times New Roman" panose="02020603050405020304" pitchFamily="18" charset="0"/>
                <a:cs typeface="Times New Roman" panose="02020603050405020304" pitchFamily="18" charset="0"/>
              </a:rPr>
              <a:t>	The purpose of this system is to provide customers with a convenient and efficient way to book bus tickets online. It offers features such as 24/7 availability, a wide range of options, secure transactions, a time-saving booking process, and the ability to cancel or reschedule tickets. The goal is to simplify the ticket booking process, enhance the customer experience, and provide a seamless and hassle-free way to arrange bus travel.</a:t>
            </a:r>
          </a:p>
        </p:txBody>
      </p:sp>
    </p:spTree>
    <p:extLst>
      <p:ext uri="{BB962C8B-B14F-4D97-AF65-F5344CB8AC3E}">
        <p14:creationId xmlns:p14="http://schemas.microsoft.com/office/powerpoint/2010/main" val="4759621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E11AA8D-41F6-4C33-AB87-FF374650B34F}"/>
              </a:ext>
            </a:extLst>
          </p:cNvPr>
          <p:cNvSpPr>
            <a:spLocks noGrp="1"/>
          </p:cNvSpPr>
          <p:nvPr>
            <p:ph type="title"/>
          </p:nvPr>
        </p:nvSpPr>
        <p:spPr/>
        <p:txBody>
          <a:bodyPr/>
          <a:lstStyle/>
          <a:p>
            <a:r>
              <a:rPr lang="en-US" b="1" i="1" dirty="0">
                <a:latin typeface="Times New Roman" panose="02020603050405020304" pitchFamily="18" charset="0"/>
                <a:cs typeface="Times New Roman" panose="02020603050405020304" pitchFamily="18" charset="0"/>
              </a:rPr>
              <a:t>Functional Requirements</a:t>
            </a:r>
          </a:p>
        </p:txBody>
      </p:sp>
      <p:sp>
        <p:nvSpPr>
          <p:cNvPr id="6" name="Content Placeholder 5">
            <a:extLst>
              <a:ext uri="{FF2B5EF4-FFF2-40B4-BE49-F238E27FC236}">
                <a16:creationId xmlns:a16="http://schemas.microsoft.com/office/drawing/2014/main" id="{5AD75F9F-A397-4CDB-9BFC-81A70920D869}"/>
              </a:ext>
            </a:extLst>
          </p:cNvPr>
          <p:cNvSpPr>
            <a:spLocks noGrp="1"/>
          </p:cNvSpPr>
          <p:nvPr>
            <p:ph sz="half" idx="1"/>
          </p:nvPr>
        </p:nvSpPr>
        <p:spPr/>
        <p:txBody>
          <a:bodyPr/>
          <a:lstStyle/>
          <a:p>
            <a:pPr>
              <a:buFont typeface="Wingdings" panose="05000000000000000000" pitchFamily="2" charset="2"/>
              <a:buChar char="Ø"/>
            </a:pPr>
            <a:r>
              <a:rPr lang="en-US" sz="2000" b="1" i="1" dirty="0">
                <a:latin typeface="Times New Roman" panose="02020603050405020304" pitchFamily="18" charset="0"/>
                <a:cs typeface="Times New Roman" panose="02020603050405020304" pitchFamily="18" charset="0"/>
              </a:rPr>
              <a:t>For Administrator</a:t>
            </a:r>
          </a:p>
          <a:p>
            <a:pPr lvl="1">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Bus Route Management</a:t>
            </a:r>
          </a:p>
          <a:p>
            <a:pPr lvl="1">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Bus Schedule Management</a:t>
            </a:r>
          </a:p>
          <a:p>
            <a:pPr lvl="1">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Customer Detail Checking</a:t>
            </a:r>
          </a:p>
          <a:p>
            <a:pPr lvl="1">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Ticket Management</a:t>
            </a:r>
          </a:p>
          <a:p>
            <a:pPr marL="0" indent="0">
              <a:buNone/>
            </a:pPr>
            <a:endParaRPr lang="en-US" dirty="0"/>
          </a:p>
          <a:p>
            <a:pPr>
              <a:buFont typeface="Wingdings" panose="05000000000000000000" pitchFamily="2" charset="2"/>
              <a:buChar char="v"/>
            </a:pPr>
            <a:endParaRPr lang="en-US" dirty="0"/>
          </a:p>
        </p:txBody>
      </p:sp>
      <p:sp>
        <p:nvSpPr>
          <p:cNvPr id="7" name="Content Placeholder 6">
            <a:extLst>
              <a:ext uri="{FF2B5EF4-FFF2-40B4-BE49-F238E27FC236}">
                <a16:creationId xmlns:a16="http://schemas.microsoft.com/office/drawing/2014/main" id="{86318CDD-68DA-40FB-8DF4-A075A407925E}"/>
              </a:ext>
            </a:extLst>
          </p:cNvPr>
          <p:cNvSpPr>
            <a:spLocks noGrp="1"/>
          </p:cNvSpPr>
          <p:nvPr>
            <p:ph sz="half" idx="2"/>
          </p:nvPr>
        </p:nvSpPr>
        <p:spPr/>
        <p:txBody>
          <a:bodyPr/>
          <a:lstStyle/>
          <a:p>
            <a:pPr>
              <a:buFont typeface="Wingdings" panose="05000000000000000000" pitchFamily="2" charset="2"/>
              <a:buChar char="Ø"/>
            </a:pPr>
            <a:r>
              <a:rPr lang="en-US" sz="2000" b="1" i="1" dirty="0">
                <a:latin typeface="Times New Roman" panose="02020603050405020304" pitchFamily="18" charset="0"/>
                <a:cs typeface="Times New Roman" panose="02020603050405020304" pitchFamily="18" charset="0"/>
              </a:rPr>
              <a:t>For User</a:t>
            </a:r>
          </a:p>
          <a:p>
            <a:pPr lvl="1">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Browse Ticket </a:t>
            </a:r>
          </a:p>
          <a:p>
            <a:pPr lvl="1">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Customer Detail</a:t>
            </a:r>
          </a:p>
          <a:p>
            <a:pPr lvl="1">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Display Available Seats</a:t>
            </a:r>
          </a:p>
          <a:p>
            <a:pPr lvl="1">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Confirmation and Ticket Details</a:t>
            </a:r>
          </a:p>
          <a:p>
            <a:pPr lvl="1">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Book Ticket</a:t>
            </a:r>
          </a:p>
          <a:p>
            <a:pPr lvl="1">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Buy Ticket Online</a:t>
            </a:r>
          </a:p>
          <a:p>
            <a:pPr marL="0" indent="0">
              <a:buNone/>
            </a:pPr>
            <a:endParaRPr lang="en-US" dirty="0"/>
          </a:p>
        </p:txBody>
      </p:sp>
    </p:spTree>
    <p:extLst>
      <p:ext uri="{BB962C8B-B14F-4D97-AF65-F5344CB8AC3E}">
        <p14:creationId xmlns:p14="http://schemas.microsoft.com/office/powerpoint/2010/main" val="15978155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C986D5-F528-4DC8-B8AB-2AA0AF22EDEA}"/>
              </a:ext>
            </a:extLst>
          </p:cNvPr>
          <p:cNvSpPr>
            <a:spLocks noGrp="1"/>
          </p:cNvSpPr>
          <p:nvPr>
            <p:ph type="title"/>
          </p:nvPr>
        </p:nvSpPr>
        <p:spPr/>
        <p:txBody>
          <a:bodyPr/>
          <a:lstStyle/>
          <a:p>
            <a:r>
              <a:rPr lang="en-US" b="1" i="1" dirty="0">
                <a:latin typeface="Times New Roman" panose="02020603050405020304" pitchFamily="18" charset="0"/>
                <a:cs typeface="Times New Roman" panose="02020603050405020304" pitchFamily="18" charset="0"/>
              </a:rPr>
              <a:t>Other Nonfunctional Requirements</a:t>
            </a:r>
          </a:p>
        </p:txBody>
      </p:sp>
      <p:sp>
        <p:nvSpPr>
          <p:cNvPr id="3" name="Content Placeholder 2">
            <a:extLst>
              <a:ext uri="{FF2B5EF4-FFF2-40B4-BE49-F238E27FC236}">
                <a16:creationId xmlns:a16="http://schemas.microsoft.com/office/drawing/2014/main" id="{59A62798-68D2-4CA8-938E-08EC69545F36}"/>
              </a:ext>
            </a:extLst>
          </p:cNvPr>
          <p:cNvSpPr>
            <a:spLocks noGrp="1"/>
          </p:cNvSpPr>
          <p:nvPr>
            <p:ph sz="half" idx="1"/>
          </p:nvPr>
        </p:nvSpPr>
        <p:spPr/>
        <p:txBody>
          <a:bodyPr/>
          <a:lstStyle/>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Software Quality Requirement</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Performance Requirement</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Safety Requirement</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Security Requirement</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Business Rules</a:t>
            </a:r>
          </a:p>
        </p:txBody>
      </p:sp>
    </p:spTree>
    <p:extLst>
      <p:ext uri="{BB962C8B-B14F-4D97-AF65-F5344CB8AC3E}">
        <p14:creationId xmlns:p14="http://schemas.microsoft.com/office/powerpoint/2010/main" val="4209160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8DF6D2-7734-41F5-B960-443CFC16D8E0}"/>
              </a:ext>
            </a:extLst>
          </p:cNvPr>
          <p:cNvSpPr>
            <a:spLocks noGrp="1"/>
          </p:cNvSpPr>
          <p:nvPr>
            <p:ph type="title"/>
          </p:nvPr>
        </p:nvSpPr>
        <p:spPr/>
        <p:txBody>
          <a:bodyPr/>
          <a:lstStyle/>
          <a:p>
            <a:r>
              <a:rPr lang="en-US" b="1" i="1" dirty="0">
                <a:latin typeface="Times New Roman" panose="02020603050405020304" pitchFamily="18" charset="0"/>
                <a:cs typeface="Times New Roman" panose="02020603050405020304" pitchFamily="18" charset="0"/>
              </a:rPr>
              <a:t>Requirement Analysis Modeling</a:t>
            </a:r>
          </a:p>
        </p:txBody>
      </p:sp>
      <p:sp>
        <p:nvSpPr>
          <p:cNvPr id="3" name="Content Placeholder 2">
            <a:extLst>
              <a:ext uri="{FF2B5EF4-FFF2-40B4-BE49-F238E27FC236}">
                <a16:creationId xmlns:a16="http://schemas.microsoft.com/office/drawing/2014/main" id="{2224FB1A-6E8A-4F59-BE5F-9FE9C37B87DA}"/>
              </a:ext>
            </a:extLst>
          </p:cNvPr>
          <p:cNvSpPr>
            <a:spLocks noGrp="1"/>
          </p:cNvSpPr>
          <p:nvPr>
            <p:ph idx="1"/>
          </p:nvPr>
        </p:nvSpPr>
        <p:spPr/>
        <p:txBody>
          <a:bodyPr/>
          <a:lstStyle/>
          <a:p>
            <a:pPr marL="400050" indent="-400050">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Scenario-Based Modeling</a:t>
            </a:r>
          </a:p>
          <a:p>
            <a:pPr marL="400050" indent="-400050">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Class-Based Modeling</a:t>
            </a:r>
          </a:p>
          <a:p>
            <a:pPr marL="400050" indent="-400050">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 Conceptual Data Modeling</a:t>
            </a:r>
          </a:p>
          <a:p>
            <a:pPr marL="400050" indent="-400050">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Process Modeling</a:t>
            </a:r>
          </a:p>
          <a:p>
            <a:pPr marL="400050" indent="-400050">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Behavior Modeling</a:t>
            </a:r>
          </a:p>
        </p:txBody>
      </p:sp>
    </p:spTree>
    <p:extLst>
      <p:ext uri="{BB962C8B-B14F-4D97-AF65-F5344CB8AC3E}">
        <p14:creationId xmlns:p14="http://schemas.microsoft.com/office/powerpoint/2010/main" val="33085119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ACDBA4-B9E4-49E9-9F7D-14342257E76F}"/>
              </a:ext>
            </a:extLst>
          </p:cNvPr>
          <p:cNvSpPr>
            <a:spLocks noGrp="1"/>
          </p:cNvSpPr>
          <p:nvPr>
            <p:ph type="title"/>
          </p:nvPr>
        </p:nvSpPr>
        <p:spPr/>
        <p:txBody>
          <a:bodyPr>
            <a:normAutofit fontScale="90000"/>
          </a:bodyPr>
          <a:lstStyle/>
          <a:p>
            <a:r>
              <a:rPr lang="en-US" b="1" i="1" dirty="0">
                <a:latin typeface="Times New Roman" panose="02020603050405020304" pitchFamily="18" charset="0"/>
                <a:cs typeface="Times New Roman" panose="02020603050405020304" pitchFamily="18" charset="0"/>
              </a:rPr>
              <a:t>Scenario-Based Modeling</a:t>
            </a: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86E3D885-4788-4D91-911B-96757E4090CA}"/>
              </a:ext>
            </a:extLst>
          </p:cNvPr>
          <p:cNvSpPr>
            <a:spLocks noGrp="1"/>
          </p:cNvSpPr>
          <p:nvPr>
            <p:ph idx="1"/>
          </p:nvPr>
        </p:nvSpPr>
        <p:spPr/>
        <p:txBody>
          <a:bodyPr>
            <a:normAutofit/>
          </a:bodyPr>
          <a:lstStyle/>
          <a:p>
            <a:pPr marL="0" indent="0" algn="just">
              <a:buNone/>
            </a:pPr>
            <a:r>
              <a:rPr lang="en-US" dirty="0">
                <a:latin typeface="Times New Roman" panose="02020603050405020304" pitchFamily="18" charset="0"/>
                <a:cs typeface="Times New Roman" panose="02020603050405020304" pitchFamily="18" charset="0"/>
              </a:rPr>
              <a:t>	Scenario-based modeling of SRS involves creating narratives that describe how users will interact with the system under specific conditions. These scenarios capture the system’s behavior from the user's perspective, detailing inputs, outputs, and expected system responses. We use scenario-based modeling because it helps uncover missing or ambiguous requirements in the SRS. By simulating real-world use cases, scenarios promote better understanding of user needs and identify potential issues before development begins.</a:t>
            </a:r>
          </a:p>
        </p:txBody>
      </p:sp>
    </p:spTree>
    <p:extLst>
      <p:ext uri="{BB962C8B-B14F-4D97-AF65-F5344CB8AC3E}">
        <p14:creationId xmlns:p14="http://schemas.microsoft.com/office/powerpoint/2010/main" val="33453969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4D4804-0FE5-429A-9448-B221A440CBCC}"/>
              </a:ext>
            </a:extLst>
          </p:cNvPr>
          <p:cNvSpPr>
            <a:spLocks noGrp="1"/>
          </p:cNvSpPr>
          <p:nvPr>
            <p:ph type="title"/>
          </p:nvPr>
        </p:nvSpPr>
        <p:spPr>
          <a:xfrm>
            <a:off x="2592925" y="322452"/>
            <a:ext cx="8911687" cy="1280890"/>
          </a:xfrm>
        </p:spPr>
        <p:txBody>
          <a:bodyPr/>
          <a:lstStyle/>
          <a:p>
            <a:r>
              <a:rPr lang="en-US" b="1" i="1" dirty="0">
                <a:latin typeface="Times New Roman" panose="02020603050405020304" pitchFamily="18" charset="0"/>
                <a:cs typeface="Times New Roman" panose="02020603050405020304" pitchFamily="18" charset="0"/>
              </a:rPr>
              <a:t>Use Case Diagram of Online Bus Ticket Management Modelling</a:t>
            </a:r>
          </a:p>
        </p:txBody>
      </p:sp>
      <p:pic>
        <p:nvPicPr>
          <p:cNvPr id="8" name="Content Placeholder 7">
            <a:extLst>
              <a:ext uri="{FF2B5EF4-FFF2-40B4-BE49-F238E27FC236}">
                <a16:creationId xmlns:a16="http://schemas.microsoft.com/office/drawing/2014/main" id="{12937CB6-572E-4434-B076-21A7AAD7A8B4}"/>
              </a:ext>
            </a:extLst>
          </p:cNvPr>
          <p:cNvPicPr>
            <a:picLocks noGrp="1"/>
          </p:cNvPicPr>
          <p:nvPr>
            <p:ph idx="1"/>
          </p:nvPr>
        </p:nvPicPr>
        <p:blipFill>
          <a:blip r:embed="rId2"/>
          <a:stretch>
            <a:fillRect/>
          </a:stretch>
        </p:blipFill>
        <p:spPr>
          <a:xfrm>
            <a:off x="3082565" y="1603342"/>
            <a:ext cx="6985262" cy="4932206"/>
          </a:xfrm>
          <a:prstGeom prst="rect">
            <a:avLst/>
          </a:prstGeom>
        </p:spPr>
      </p:pic>
    </p:spTree>
    <p:extLst>
      <p:ext uri="{BB962C8B-B14F-4D97-AF65-F5344CB8AC3E}">
        <p14:creationId xmlns:p14="http://schemas.microsoft.com/office/powerpoint/2010/main" val="24025608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8EF392-41A6-469E-B866-B71EF7001FB1}"/>
              </a:ext>
            </a:extLst>
          </p:cNvPr>
          <p:cNvSpPr>
            <a:spLocks noGrp="1"/>
          </p:cNvSpPr>
          <p:nvPr>
            <p:ph type="title"/>
          </p:nvPr>
        </p:nvSpPr>
        <p:spPr/>
        <p:txBody>
          <a:bodyPr/>
          <a:lstStyle/>
          <a:p>
            <a:r>
              <a:rPr lang="en-US" b="1" i="1" dirty="0">
                <a:latin typeface="Times New Roman" panose="02020603050405020304" pitchFamily="18" charset="0"/>
                <a:cs typeface="Times New Roman" panose="02020603050405020304" pitchFamily="18" charset="0"/>
              </a:rPr>
              <a:t>Class-Based Modeling</a:t>
            </a:r>
            <a:br>
              <a:rPr lang="en-US" dirty="0">
                <a:latin typeface="Times New Roman" panose="02020603050405020304" pitchFamily="18"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64BDA6A1-029C-43FA-AF70-C391527CC1C6}"/>
              </a:ext>
            </a:extLst>
          </p:cNvPr>
          <p:cNvSpPr>
            <a:spLocks noGrp="1"/>
          </p:cNvSpPr>
          <p:nvPr>
            <p:ph idx="1"/>
          </p:nvPr>
        </p:nvSpPr>
        <p:spPr/>
        <p:txBody>
          <a:bodyPr/>
          <a:lstStyle/>
          <a:p>
            <a:pPr marL="0" indent="0" algn="just">
              <a:buNone/>
            </a:pPr>
            <a:r>
              <a:rPr lang="en-US" dirty="0">
                <a:latin typeface="Times New Roman" panose="02020603050405020304" pitchFamily="18" charset="0"/>
                <a:cs typeface="Times New Roman" panose="02020603050405020304" pitchFamily="18" charset="0"/>
              </a:rPr>
              <a:t>	An SRS (Software Requirements Specification) can be modeled using classes. This involves identifying the key entities (classes) and their attributes (data) within the system, along with the operations (methods) they can perform. This class-based model helps visualize the system's structure and how different parts interact. We use a class-based model because it promotes better understanding of the software's building blocks, simplifies communication between developers and stakeholders, and aids in early design decisions.</a:t>
            </a:r>
          </a:p>
        </p:txBody>
      </p:sp>
    </p:spTree>
    <p:extLst>
      <p:ext uri="{BB962C8B-B14F-4D97-AF65-F5344CB8AC3E}">
        <p14:creationId xmlns:p14="http://schemas.microsoft.com/office/powerpoint/2010/main" val="20934980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8D65E9-262C-40D8-AA4D-DFB6F99C6138}"/>
              </a:ext>
            </a:extLst>
          </p:cNvPr>
          <p:cNvSpPr>
            <a:spLocks noGrp="1"/>
          </p:cNvSpPr>
          <p:nvPr>
            <p:ph type="title"/>
          </p:nvPr>
        </p:nvSpPr>
        <p:spPr/>
        <p:txBody>
          <a:bodyPr/>
          <a:lstStyle/>
          <a:p>
            <a:r>
              <a:rPr lang="en-US" b="1" i="1" dirty="0">
                <a:latin typeface="Times New Roman" panose="02020603050405020304" pitchFamily="18" charset="0"/>
                <a:cs typeface="Times New Roman" panose="02020603050405020304" pitchFamily="18" charset="0"/>
              </a:rPr>
              <a:t>Class Diagram of Online Bus Ticket Management</a:t>
            </a:r>
            <a:endParaRPr lang="en-US" i="1" dirty="0">
              <a:latin typeface="Times New Roman" panose="02020603050405020304" pitchFamily="18" charset="0"/>
              <a:cs typeface="Times New Roman" panose="02020603050405020304" pitchFamily="18" charset="0"/>
            </a:endParaRPr>
          </a:p>
        </p:txBody>
      </p:sp>
      <p:pic>
        <p:nvPicPr>
          <p:cNvPr id="11" name="Content Placeholder 10">
            <a:extLst>
              <a:ext uri="{FF2B5EF4-FFF2-40B4-BE49-F238E27FC236}">
                <a16:creationId xmlns:a16="http://schemas.microsoft.com/office/drawing/2014/main" id="{62C1CAEF-02F5-4E16-9710-25805D9D0B6D}"/>
              </a:ext>
            </a:extLst>
          </p:cNvPr>
          <p:cNvPicPr>
            <a:picLocks noGrp="1" noChangeAspect="1"/>
          </p:cNvPicPr>
          <p:nvPr>
            <p:ph idx="1"/>
          </p:nvPr>
        </p:nvPicPr>
        <p:blipFill>
          <a:blip r:embed="rId2"/>
          <a:stretch>
            <a:fillRect/>
          </a:stretch>
        </p:blipFill>
        <p:spPr>
          <a:xfrm>
            <a:off x="4226965" y="2133600"/>
            <a:ext cx="5639896" cy="3778250"/>
          </a:xfrm>
        </p:spPr>
      </p:pic>
    </p:spTree>
    <p:extLst>
      <p:ext uri="{BB962C8B-B14F-4D97-AF65-F5344CB8AC3E}">
        <p14:creationId xmlns:p14="http://schemas.microsoft.com/office/powerpoint/2010/main" val="39392597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67923F-7185-435E-A3C0-80647687264A}"/>
              </a:ext>
            </a:extLst>
          </p:cNvPr>
          <p:cNvSpPr>
            <a:spLocks noGrp="1"/>
          </p:cNvSpPr>
          <p:nvPr>
            <p:ph type="title"/>
          </p:nvPr>
        </p:nvSpPr>
        <p:spPr/>
        <p:txBody>
          <a:bodyPr/>
          <a:lstStyle/>
          <a:p>
            <a:r>
              <a:rPr lang="en-US" b="1" i="1" dirty="0">
                <a:latin typeface="Times New Roman" panose="02020603050405020304" pitchFamily="18" charset="0"/>
                <a:cs typeface="Times New Roman" panose="02020603050405020304" pitchFamily="18" charset="0"/>
              </a:rPr>
              <a:t>Conceptual Data Modeling</a:t>
            </a:r>
            <a:br>
              <a:rPr lang="en-US" dirty="0">
                <a:latin typeface="Times New Roman" panose="02020603050405020304" pitchFamily="18"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49303D07-78B3-4E98-999E-7B535759EBE7}"/>
              </a:ext>
            </a:extLst>
          </p:cNvPr>
          <p:cNvSpPr>
            <a:spLocks noGrp="1"/>
          </p:cNvSpPr>
          <p:nvPr>
            <p:ph idx="1"/>
          </p:nvPr>
        </p:nvSpPr>
        <p:spPr/>
        <p:txBody>
          <a:bodyPr/>
          <a:lstStyle/>
          <a:p>
            <a:pPr marL="0" indent="0" algn="just">
              <a:buNone/>
            </a:pPr>
            <a:r>
              <a:rPr lang="en-US" dirty="0">
                <a:latin typeface="Times New Roman" panose="02020603050405020304" pitchFamily="18" charset="0"/>
                <a:cs typeface="Times New Roman" panose="02020603050405020304" pitchFamily="18" charset="0"/>
              </a:rPr>
              <a:t>	A conceptual model of an SRS focuses on the high-level entities, attributes, and relationships within the software system, independent of specific technologies . It represents the core functionalities and data involved, using concepts like users, functionalities, data items, and their interactions . This high-level view helps stakeholders understand the overall system behavior and requirements before diving into technical details . By focusing on core concepts, a conceptual model promotes clear communication and ensures everyone aligns on the system's fundamental purpose.</a:t>
            </a:r>
          </a:p>
          <a:p>
            <a:pPr marL="0" indent="0">
              <a:buNone/>
            </a:pPr>
            <a:endParaRPr lang="en-US" dirty="0"/>
          </a:p>
        </p:txBody>
      </p:sp>
    </p:spTree>
    <p:extLst>
      <p:ext uri="{BB962C8B-B14F-4D97-AF65-F5344CB8AC3E}">
        <p14:creationId xmlns:p14="http://schemas.microsoft.com/office/powerpoint/2010/main" val="16902369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85D3C-2F0F-4E7A-906D-286334FA8D04}"/>
              </a:ext>
            </a:extLst>
          </p:cNvPr>
          <p:cNvSpPr>
            <a:spLocks noGrp="1"/>
          </p:cNvSpPr>
          <p:nvPr>
            <p:ph type="title"/>
          </p:nvPr>
        </p:nvSpPr>
        <p:spPr/>
        <p:txBody>
          <a:bodyPr/>
          <a:lstStyle/>
          <a:p>
            <a:r>
              <a:rPr lang="en-US" b="1" i="1" dirty="0">
                <a:latin typeface="Times New Roman" panose="02020603050405020304" pitchFamily="18" charset="0"/>
                <a:cs typeface="Times New Roman" panose="02020603050405020304" pitchFamily="18" charset="0"/>
              </a:rPr>
              <a:t>E-R Diagram of Online Bus Ticket Management</a:t>
            </a:r>
            <a:endParaRPr lang="en-US" i="1" dirty="0">
              <a:latin typeface="Times New Roman" panose="02020603050405020304" pitchFamily="18" charset="0"/>
              <a:cs typeface="Times New Roman" panose="02020603050405020304" pitchFamily="18" charset="0"/>
            </a:endParaRPr>
          </a:p>
        </p:txBody>
      </p:sp>
      <p:pic>
        <p:nvPicPr>
          <p:cNvPr id="4" name="Content Placeholder 3">
            <a:extLst>
              <a:ext uri="{FF2B5EF4-FFF2-40B4-BE49-F238E27FC236}">
                <a16:creationId xmlns:a16="http://schemas.microsoft.com/office/drawing/2014/main" id="{4C6BB9F3-8351-4F91-98C6-2DD234E1AAA9}"/>
              </a:ext>
            </a:extLst>
          </p:cNvPr>
          <p:cNvPicPr>
            <a:picLocks noGrp="1"/>
          </p:cNvPicPr>
          <p:nvPr>
            <p:ph idx="1"/>
          </p:nvPr>
        </p:nvPicPr>
        <p:blipFill>
          <a:blip r:embed="rId2"/>
          <a:stretch>
            <a:fillRect/>
          </a:stretch>
        </p:blipFill>
        <p:spPr>
          <a:xfrm>
            <a:off x="2654389" y="2133600"/>
            <a:ext cx="8785048" cy="3778250"/>
          </a:xfrm>
          <a:prstGeom prst="rect">
            <a:avLst/>
          </a:prstGeom>
        </p:spPr>
      </p:pic>
    </p:spTree>
    <p:extLst>
      <p:ext uri="{BB962C8B-B14F-4D97-AF65-F5344CB8AC3E}">
        <p14:creationId xmlns:p14="http://schemas.microsoft.com/office/powerpoint/2010/main" val="25492127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44192F-A224-438A-B0E9-0A441A492407}"/>
              </a:ext>
            </a:extLst>
          </p:cNvPr>
          <p:cNvSpPr>
            <a:spLocks noGrp="1"/>
          </p:cNvSpPr>
          <p:nvPr>
            <p:ph type="title"/>
          </p:nvPr>
        </p:nvSpPr>
        <p:spPr/>
        <p:txBody>
          <a:bodyPr/>
          <a:lstStyle/>
          <a:p>
            <a:r>
              <a:rPr lang="en-US" b="1" i="1" dirty="0">
                <a:latin typeface="Times New Roman" panose="02020603050405020304" pitchFamily="18" charset="0"/>
                <a:cs typeface="Times New Roman" panose="02020603050405020304" pitchFamily="18" charset="0"/>
              </a:rPr>
              <a:t>Process Modeling</a:t>
            </a:r>
            <a:br>
              <a:rPr lang="en-US" dirty="0">
                <a:latin typeface="Times New Roman" panose="02020603050405020304" pitchFamily="18"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EA3AA618-3FC3-4649-97F5-0B11FDAA2C48}"/>
              </a:ext>
            </a:extLst>
          </p:cNvPr>
          <p:cNvSpPr>
            <a:spLocks noGrp="1"/>
          </p:cNvSpPr>
          <p:nvPr>
            <p:ph idx="1"/>
          </p:nvPr>
        </p:nvSpPr>
        <p:spPr>
          <a:xfrm>
            <a:off x="2592924" y="1905000"/>
            <a:ext cx="8911687" cy="1280890"/>
          </a:xfrm>
        </p:spPr>
        <p:txBody>
          <a:bodyPr/>
          <a:lstStyle/>
          <a:p>
            <a:pPr marL="0" indent="0" algn="just">
              <a:buNone/>
            </a:pPr>
            <a:r>
              <a:rPr lang="en-US" dirty="0"/>
              <a:t>	</a:t>
            </a:r>
            <a:r>
              <a:rPr lang="en-US" dirty="0">
                <a:latin typeface="Times New Roman" panose="02020603050405020304" pitchFamily="18" charset="0"/>
                <a:cs typeface="Times New Roman" panose="02020603050405020304" pitchFamily="18" charset="0"/>
              </a:rPr>
              <a:t>This data flow diagram describes the way information flows through the process. It includes data inputs and outputs, data stores, and the various sub processes the data moves through.</a:t>
            </a:r>
          </a:p>
          <a:p>
            <a:endParaRPr lang="en-US" dirty="0"/>
          </a:p>
        </p:txBody>
      </p:sp>
    </p:spTree>
    <p:extLst>
      <p:ext uri="{BB962C8B-B14F-4D97-AF65-F5344CB8AC3E}">
        <p14:creationId xmlns:p14="http://schemas.microsoft.com/office/powerpoint/2010/main" val="42086396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4279AF-D8B9-43C5-9189-13F6C3D8521F}"/>
              </a:ext>
            </a:extLst>
          </p:cNvPr>
          <p:cNvSpPr>
            <a:spLocks noGrp="1"/>
          </p:cNvSpPr>
          <p:nvPr>
            <p:ph type="title"/>
          </p:nvPr>
        </p:nvSpPr>
        <p:spPr/>
        <p:txBody>
          <a:bodyPr/>
          <a:lstStyle/>
          <a:p>
            <a:r>
              <a:rPr lang="en-US" b="1" i="1" dirty="0">
                <a:latin typeface="Times New Roman" panose="02020603050405020304" pitchFamily="18" charset="0"/>
                <a:cs typeface="Times New Roman" panose="02020603050405020304" pitchFamily="18" charset="0"/>
              </a:rPr>
              <a:t>Context DFD of Bus Ticket Management</a:t>
            </a:r>
            <a:endParaRPr lang="en-US" i="1" dirty="0">
              <a:latin typeface="Times New Roman" panose="02020603050405020304" pitchFamily="18" charset="0"/>
              <a:cs typeface="Times New Roman" panose="02020603050405020304" pitchFamily="18" charset="0"/>
            </a:endParaRPr>
          </a:p>
        </p:txBody>
      </p:sp>
      <p:pic>
        <p:nvPicPr>
          <p:cNvPr id="4" name="Content Placeholder 3">
            <a:extLst>
              <a:ext uri="{FF2B5EF4-FFF2-40B4-BE49-F238E27FC236}">
                <a16:creationId xmlns:a16="http://schemas.microsoft.com/office/drawing/2014/main" id="{3E59CA5D-2FE7-49B9-B2EF-43CA8F22F082}"/>
              </a:ext>
            </a:extLst>
          </p:cNvPr>
          <p:cNvPicPr>
            <a:picLocks noGrp="1"/>
          </p:cNvPicPr>
          <p:nvPr>
            <p:ph idx="1"/>
          </p:nvPr>
        </p:nvPicPr>
        <p:blipFill>
          <a:blip r:embed="rId2"/>
          <a:stretch>
            <a:fillRect/>
          </a:stretch>
        </p:blipFill>
        <p:spPr>
          <a:xfrm>
            <a:off x="3248293" y="3429000"/>
            <a:ext cx="7600950" cy="2962275"/>
          </a:xfrm>
          <a:prstGeom prst="rect">
            <a:avLst/>
          </a:prstGeom>
        </p:spPr>
      </p:pic>
      <p:sp>
        <p:nvSpPr>
          <p:cNvPr id="3" name="TextBox 2">
            <a:extLst>
              <a:ext uri="{FF2B5EF4-FFF2-40B4-BE49-F238E27FC236}">
                <a16:creationId xmlns:a16="http://schemas.microsoft.com/office/drawing/2014/main" id="{AE41511D-0463-445F-92A6-D7341226A196}"/>
              </a:ext>
            </a:extLst>
          </p:cNvPr>
          <p:cNvSpPr txBox="1"/>
          <p:nvPr/>
        </p:nvSpPr>
        <p:spPr>
          <a:xfrm>
            <a:off x="2592925" y="1720333"/>
            <a:ext cx="7811704" cy="923330"/>
          </a:xfrm>
          <a:prstGeom prst="rect">
            <a:avLst/>
          </a:prstGeom>
          <a:noFill/>
        </p:spPr>
        <p:txBody>
          <a:bodyPr wrap="square" rtlCol="0">
            <a:spAutoFit/>
          </a:bodyPr>
          <a:lstStyle/>
          <a:p>
            <a:pPr marL="285750" indent="-285750">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the most basic data flow diagrams</a:t>
            </a:r>
          </a:p>
          <a:p>
            <a:pPr marL="285750" indent="-285750">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represents all the external components of the system</a:t>
            </a:r>
          </a:p>
          <a:p>
            <a:pPr marL="285750" indent="-285750">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describe the scope of the project</a:t>
            </a:r>
          </a:p>
        </p:txBody>
      </p:sp>
    </p:spTree>
    <p:extLst>
      <p:ext uri="{BB962C8B-B14F-4D97-AF65-F5344CB8AC3E}">
        <p14:creationId xmlns:p14="http://schemas.microsoft.com/office/powerpoint/2010/main" val="3038395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F6AAD7-6909-48FA-A4F2-90CA8134B320}"/>
              </a:ext>
            </a:extLst>
          </p:cNvPr>
          <p:cNvSpPr>
            <a:spLocks noGrp="1"/>
          </p:cNvSpPr>
          <p:nvPr>
            <p:ph type="title"/>
          </p:nvPr>
        </p:nvSpPr>
        <p:spPr/>
        <p:txBody>
          <a:bodyPr/>
          <a:lstStyle/>
          <a:p>
            <a:r>
              <a:rPr lang="en-US" b="1" i="1" dirty="0">
                <a:latin typeface="Times New Roman" panose="02020603050405020304" pitchFamily="18" charset="0"/>
                <a:cs typeface="Times New Roman" panose="02020603050405020304" pitchFamily="18" charset="0"/>
              </a:rPr>
              <a:t>Level 0 Diagram</a:t>
            </a:r>
            <a:br>
              <a:rPr lang="en-US" dirty="0">
                <a:latin typeface="Times New Roman" panose="02020603050405020304" pitchFamily="18" charset="0"/>
                <a:cs typeface="Times New Roman" panose="02020603050405020304" pitchFamily="18" charset="0"/>
              </a:rPr>
            </a:br>
            <a:endParaRPr lang="en-US" dirty="0"/>
          </a:p>
        </p:txBody>
      </p:sp>
      <p:pic>
        <p:nvPicPr>
          <p:cNvPr id="4" name="Content Placeholder 3">
            <a:extLst>
              <a:ext uri="{FF2B5EF4-FFF2-40B4-BE49-F238E27FC236}">
                <a16:creationId xmlns:a16="http://schemas.microsoft.com/office/drawing/2014/main" id="{C11FD34D-7423-4763-9ACB-092E078A8A3D}"/>
              </a:ext>
            </a:extLst>
          </p:cNvPr>
          <p:cNvPicPr>
            <a:picLocks noGrp="1"/>
          </p:cNvPicPr>
          <p:nvPr>
            <p:ph idx="1"/>
          </p:nvPr>
        </p:nvPicPr>
        <p:blipFill>
          <a:blip r:embed="rId2"/>
          <a:stretch>
            <a:fillRect/>
          </a:stretch>
        </p:blipFill>
        <p:spPr>
          <a:xfrm>
            <a:off x="4036017" y="2382887"/>
            <a:ext cx="6025502" cy="3778250"/>
          </a:xfrm>
          <a:prstGeom prst="rect">
            <a:avLst/>
          </a:prstGeom>
        </p:spPr>
      </p:pic>
      <p:sp>
        <p:nvSpPr>
          <p:cNvPr id="5" name="TextBox 4">
            <a:extLst>
              <a:ext uri="{FF2B5EF4-FFF2-40B4-BE49-F238E27FC236}">
                <a16:creationId xmlns:a16="http://schemas.microsoft.com/office/drawing/2014/main" id="{40A566E2-8B56-4B7D-9293-524FBBF2B638}"/>
              </a:ext>
            </a:extLst>
          </p:cNvPr>
          <p:cNvSpPr txBox="1"/>
          <p:nvPr/>
        </p:nvSpPr>
        <p:spPr>
          <a:xfrm>
            <a:off x="3598558" y="6253411"/>
            <a:ext cx="6900420" cy="369332"/>
          </a:xfrm>
          <a:prstGeom prst="rect">
            <a:avLst/>
          </a:prstGeom>
          <a:noFill/>
        </p:spPr>
        <p:txBody>
          <a:bodyPr wrap="square" rtlCol="0">
            <a:spAutoFit/>
          </a:bodyPr>
          <a:lstStyle/>
          <a:p>
            <a:pPr algn="ctr"/>
            <a:r>
              <a:rPr lang="en-US" b="1" i="1" dirty="0">
                <a:latin typeface="Times New Roman" panose="02020603050405020304" pitchFamily="18" charset="0"/>
                <a:cs typeface="Times New Roman" panose="02020603050405020304" pitchFamily="18" charset="0"/>
              </a:rPr>
              <a:t>Level-0 DFD of Bus Ticket Management</a:t>
            </a:r>
          </a:p>
        </p:txBody>
      </p:sp>
      <p:sp>
        <p:nvSpPr>
          <p:cNvPr id="3" name="TextBox 2">
            <a:extLst>
              <a:ext uri="{FF2B5EF4-FFF2-40B4-BE49-F238E27FC236}">
                <a16:creationId xmlns:a16="http://schemas.microsoft.com/office/drawing/2014/main" id="{A643CC2B-9F50-4CBF-A93D-9211D36D893A}"/>
              </a:ext>
            </a:extLst>
          </p:cNvPr>
          <p:cNvSpPr txBox="1"/>
          <p:nvPr/>
        </p:nvSpPr>
        <p:spPr>
          <a:xfrm>
            <a:off x="2592925" y="1463854"/>
            <a:ext cx="9498461" cy="646331"/>
          </a:xfrm>
          <a:prstGeom prst="rect">
            <a:avLst/>
          </a:prstGeom>
          <a:noFill/>
        </p:spPr>
        <p:txBody>
          <a:bodyPr wrap="square" rtlCol="0">
            <a:spAutoFit/>
          </a:bodyPr>
          <a:lstStyle/>
          <a:p>
            <a:pPr marL="285750" indent="-285750">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detailed description of the context diagram</a:t>
            </a:r>
          </a:p>
          <a:p>
            <a:pPr marL="285750" indent="-285750">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represents the primary individual processes in the system at the highest possible level of detail</a:t>
            </a:r>
          </a:p>
        </p:txBody>
      </p:sp>
    </p:spTree>
    <p:extLst>
      <p:ext uri="{BB962C8B-B14F-4D97-AF65-F5344CB8AC3E}">
        <p14:creationId xmlns:p14="http://schemas.microsoft.com/office/powerpoint/2010/main" val="19372650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3DED5D-C763-46BC-BA49-339A018AD1E5}"/>
              </a:ext>
            </a:extLst>
          </p:cNvPr>
          <p:cNvSpPr>
            <a:spLocks noGrp="1"/>
          </p:cNvSpPr>
          <p:nvPr>
            <p:ph type="title"/>
          </p:nvPr>
        </p:nvSpPr>
        <p:spPr/>
        <p:txBody>
          <a:bodyPr/>
          <a:lstStyle/>
          <a:p>
            <a:r>
              <a:rPr lang="en-US" b="1" i="1" dirty="0">
                <a:latin typeface="Times New Roman" panose="02020603050405020304" pitchFamily="18" charset="0"/>
                <a:cs typeface="Times New Roman" panose="02020603050405020304" pitchFamily="18" charset="0"/>
              </a:rPr>
              <a:t>Level 1 Diagram</a:t>
            </a:r>
          </a:p>
        </p:txBody>
      </p:sp>
      <p:pic>
        <p:nvPicPr>
          <p:cNvPr id="4" name="Content Placeholder 3">
            <a:extLst>
              <a:ext uri="{FF2B5EF4-FFF2-40B4-BE49-F238E27FC236}">
                <a16:creationId xmlns:a16="http://schemas.microsoft.com/office/drawing/2014/main" id="{F0711DA8-4E7F-44F4-AC8F-A637E27B0325}"/>
              </a:ext>
            </a:extLst>
          </p:cNvPr>
          <p:cNvPicPr>
            <a:picLocks noGrp="1"/>
          </p:cNvPicPr>
          <p:nvPr>
            <p:ph idx="1"/>
          </p:nvPr>
        </p:nvPicPr>
        <p:blipFill>
          <a:blip r:embed="rId2"/>
          <a:stretch>
            <a:fillRect/>
          </a:stretch>
        </p:blipFill>
        <p:spPr>
          <a:xfrm>
            <a:off x="4859306" y="2133600"/>
            <a:ext cx="4375213" cy="3778250"/>
          </a:xfrm>
          <a:prstGeom prst="rect">
            <a:avLst/>
          </a:prstGeom>
        </p:spPr>
      </p:pic>
      <p:sp>
        <p:nvSpPr>
          <p:cNvPr id="5" name="TextBox 4">
            <a:extLst>
              <a:ext uri="{FF2B5EF4-FFF2-40B4-BE49-F238E27FC236}">
                <a16:creationId xmlns:a16="http://schemas.microsoft.com/office/drawing/2014/main" id="{AE6CD4B2-88D3-44C5-9128-742D43FA912A}"/>
              </a:ext>
            </a:extLst>
          </p:cNvPr>
          <p:cNvSpPr txBox="1"/>
          <p:nvPr/>
        </p:nvSpPr>
        <p:spPr>
          <a:xfrm>
            <a:off x="4166647" y="6099142"/>
            <a:ext cx="5788058" cy="369332"/>
          </a:xfrm>
          <a:prstGeom prst="rect">
            <a:avLst/>
          </a:prstGeom>
          <a:noFill/>
        </p:spPr>
        <p:txBody>
          <a:bodyPr wrap="square" rtlCol="0">
            <a:spAutoFit/>
          </a:bodyPr>
          <a:lstStyle/>
          <a:p>
            <a:pPr algn="ctr"/>
            <a:r>
              <a:rPr lang="en-US" b="1" i="1">
                <a:latin typeface="Times New Roman" panose="02020603050405020304" pitchFamily="18" charset="0"/>
                <a:cs typeface="Times New Roman" panose="02020603050405020304" pitchFamily="18" charset="0"/>
              </a:rPr>
              <a:t>Level 1 DFD for Payment Process</a:t>
            </a:r>
            <a:endParaRPr lang="en-US" i="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13022349-BA8A-4D29-92A7-37A446845403}"/>
              </a:ext>
            </a:extLst>
          </p:cNvPr>
          <p:cNvSpPr txBox="1"/>
          <p:nvPr/>
        </p:nvSpPr>
        <p:spPr>
          <a:xfrm>
            <a:off x="2592925" y="1535668"/>
            <a:ext cx="6163867" cy="369332"/>
          </a:xfrm>
          <a:prstGeom prst="rect">
            <a:avLst/>
          </a:prstGeom>
          <a:noFill/>
        </p:spPr>
        <p:txBody>
          <a:bodyPr wrap="none" rtlCol="0">
            <a:spAutoFit/>
          </a:bodyPr>
          <a:lstStyle/>
          <a:p>
            <a:pPr marL="285750" indent="-285750">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provides greater detail, focusing on a system's main functions</a:t>
            </a:r>
          </a:p>
        </p:txBody>
      </p:sp>
    </p:spTree>
    <p:extLst>
      <p:ext uri="{BB962C8B-B14F-4D97-AF65-F5344CB8AC3E}">
        <p14:creationId xmlns:p14="http://schemas.microsoft.com/office/powerpoint/2010/main" val="15104915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10D1B6-4439-4CD3-9016-394D5E2499DE}"/>
              </a:ext>
            </a:extLst>
          </p:cNvPr>
          <p:cNvSpPr>
            <a:spLocks noGrp="1"/>
          </p:cNvSpPr>
          <p:nvPr>
            <p:ph type="title"/>
          </p:nvPr>
        </p:nvSpPr>
        <p:spPr/>
        <p:txBody>
          <a:bodyPr/>
          <a:lstStyle/>
          <a:p>
            <a:r>
              <a:rPr lang="en-US" b="1" i="1" dirty="0">
                <a:latin typeface="Times New Roman" panose="02020603050405020304" pitchFamily="18" charset="0"/>
                <a:cs typeface="Times New Roman" panose="02020603050405020304" pitchFamily="18" charset="0"/>
              </a:rPr>
              <a:t>Level 1 Diagram(Cont’d)</a:t>
            </a:r>
            <a:endParaRPr lang="en-US" dirty="0"/>
          </a:p>
        </p:txBody>
      </p:sp>
      <p:pic>
        <p:nvPicPr>
          <p:cNvPr id="4" name="Content Placeholder 3">
            <a:extLst>
              <a:ext uri="{FF2B5EF4-FFF2-40B4-BE49-F238E27FC236}">
                <a16:creationId xmlns:a16="http://schemas.microsoft.com/office/drawing/2014/main" id="{1D04ACEE-0721-4DC2-BCF6-878442CF486E}"/>
              </a:ext>
            </a:extLst>
          </p:cNvPr>
          <p:cNvPicPr>
            <a:picLocks noGrp="1"/>
          </p:cNvPicPr>
          <p:nvPr>
            <p:ph idx="1"/>
          </p:nvPr>
        </p:nvPicPr>
        <p:blipFill>
          <a:blip r:embed="rId2"/>
          <a:stretch>
            <a:fillRect/>
          </a:stretch>
        </p:blipFill>
        <p:spPr>
          <a:xfrm>
            <a:off x="3308350" y="2322512"/>
            <a:ext cx="7477125" cy="3400425"/>
          </a:xfrm>
          <a:prstGeom prst="rect">
            <a:avLst/>
          </a:prstGeom>
        </p:spPr>
      </p:pic>
      <p:sp>
        <p:nvSpPr>
          <p:cNvPr id="5" name="TextBox 4">
            <a:extLst>
              <a:ext uri="{FF2B5EF4-FFF2-40B4-BE49-F238E27FC236}">
                <a16:creationId xmlns:a16="http://schemas.microsoft.com/office/drawing/2014/main" id="{F5FB8040-28CF-4ED0-A270-398390792361}"/>
              </a:ext>
            </a:extLst>
          </p:cNvPr>
          <p:cNvSpPr txBox="1"/>
          <p:nvPr/>
        </p:nvSpPr>
        <p:spPr>
          <a:xfrm>
            <a:off x="3308350" y="5955783"/>
            <a:ext cx="7477125" cy="369332"/>
          </a:xfrm>
          <a:prstGeom prst="rect">
            <a:avLst/>
          </a:prstGeom>
          <a:noFill/>
        </p:spPr>
        <p:txBody>
          <a:bodyPr wrap="square" rtlCol="0">
            <a:spAutoFit/>
          </a:bodyPr>
          <a:lstStyle/>
          <a:p>
            <a:pPr algn="ctr"/>
            <a:r>
              <a:rPr lang="en-US" b="1" dirty="0"/>
              <a:t>Level 1 DFD for Cancel Ticket Process</a:t>
            </a:r>
            <a:endParaRPr lang="en-US" dirty="0"/>
          </a:p>
        </p:txBody>
      </p:sp>
    </p:spTree>
    <p:extLst>
      <p:ext uri="{BB962C8B-B14F-4D97-AF65-F5344CB8AC3E}">
        <p14:creationId xmlns:p14="http://schemas.microsoft.com/office/powerpoint/2010/main" val="13408515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7936D-ECB0-40A0-9F16-7F7F213D26ED}"/>
              </a:ext>
            </a:extLst>
          </p:cNvPr>
          <p:cNvSpPr>
            <a:spLocks noGrp="1"/>
          </p:cNvSpPr>
          <p:nvPr>
            <p:ph type="title"/>
          </p:nvPr>
        </p:nvSpPr>
        <p:spPr/>
        <p:txBody>
          <a:bodyPr/>
          <a:lstStyle/>
          <a:p>
            <a:r>
              <a:rPr lang="en-US" b="1" i="1" dirty="0">
                <a:latin typeface="Times New Roman" panose="02020603050405020304" pitchFamily="18" charset="0"/>
                <a:cs typeface="Times New Roman" panose="02020603050405020304" pitchFamily="18" charset="0"/>
              </a:rPr>
              <a:t>Behavior Modeling</a:t>
            </a:r>
            <a:br>
              <a:rPr lang="en-US" dirty="0">
                <a:latin typeface="Times New Roman" panose="02020603050405020304" pitchFamily="18"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2E14D964-0CB9-4593-AD3F-121A675B0503}"/>
              </a:ext>
            </a:extLst>
          </p:cNvPr>
          <p:cNvSpPr>
            <a:spLocks noGrp="1"/>
          </p:cNvSpPr>
          <p:nvPr>
            <p:ph idx="1"/>
          </p:nvPr>
        </p:nvSpPr>
        <p:spPr/>
        <p:txBody>
          <a:bodyPr/>
          <a:lstStyle/>
          <a:p>
            <a:pPr marL="0" indent="0" algn="just">
              <a:buNone/>
            </a:pPr>
            <a:r>
              <a:rPr lang="en-US" dirty="0">
                <a:latin typeface="Times New Roman" panose="02020603050405020304" pitchFamily="18" charset="0"/>
                <a:cs typeface="Times New Roman" panose="02020603050405020304" pitchFamily="18" charset="0"/>
              </a:rPr>
              <a:t>Behavioral modeling of an SRS dives into how the system reacts to events. This can be through a state transition diagram where the system transitions between states (active, inactive, etc.) based on user actions or external triggers.</a:t>
            </a:r>
          </a:p>
          <a:p>
            <a:pPr marL="0" indent="0" algn="just">
              <a:buNone/>
            </a:pPr>
            <a:r>
              <a:rPr lang="en-US" dirty="0">
                <a:latin typeface="Times New Roman" panose="02020603050405020304" pitchFamily="18" charset="0"/>
                <a:cs typeface="Times New Roman" panose="02020603050405020304" pitchFamily="18" charset="0"/>
              </a:rPr>
              <a:t>These diagrams depict the flow of the system's behavior, allowing for a clear understanding of how different scenarios play out.</a:t>
            </a:r>
          </a:p>
          <a:p>
            <a:pPr marL="0" indent="0" algn="just">
              <a:buNone/>
            </a:pPr>
            <a:r>
              <a:rPr lang="en-US" dirty="0">
                <a:latin typeface="Times New Roman" panose="02020603050405020304" pitchFamily="18" charset="0"/>
                <a:cs typeface="Times New Roman" panose="02020603050405020304" pitchFamily="18" charset="0"/>
              </a:rPr>
              <a:t>Behavioral modeling helps identify potential issues and ensures the SRS captures the expected system responses.</a:t>
            </a:r>
          </a:p>
        </p:txBody>
      </p:sp>
    </p:spTree>
    <p:extLst>
      <p:ext uri="{BB962C8B-B14F-4D97-AF65-F5344CB8AC3E}">
        <p14:creationId xmlns:p14="http://schemas.microsoft.com/office/powerpoint/2010/main" val="16133901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9BA4B6-3260-43F4-9D0B-D11721EB2DB1}"/>
              </a:ext>
            </a:extLst>
          </p:cNvPr>
          <p:cNvSpPr>
            <a:spLocks noGrp="1"/>
          </p:cNvSpPr>
          <p:nvPr>
            <p:ph type="title"/>
          </p:nvPr>
        </p:nvSpPr>
        <p:spPr/>
        <p:txBody>
          <a:bodyPr/>
          <a:lstStyle/>
          <a:p>
            <a:r>
              <a:rPr lang="en-US" b="1" i="1" dirty="0">
                <a:latin typeface="Times New Roman" panose="02020603050405020304" pitchFamily="18" charset="0"/>
                <a:cs typeface="Times New Roman" panose="02020603050405020304" pitchFamily="18" charset="0"/>
              </a:rPr>
              <a:t>Sequence diagram of Overview the system</a:t>
            </a:r>
            <a:endParaRPr lang="en-US" i="1" dirty="0">
              <a:latin typeface="Times New Roman" panose="02020603050405020304" pitchFamily="18" charset="0"/>
              <a:cs typeface="Times New Roman" panose="02020603050405020304" pitchFamily="18" charset="0"/>
            </a:endParaRPr>
          </a:p>
        </p:txBody>
      </p:sp>
      <p:pic>
        <p:nvPicPr>
          <p:cNvPr id="4" name="Content Placeholder 3">
            <a:extLst>
              <a:ext uri="{FF2B5EF4-FFF2-40B4-BE49-F238E27FC236}">
                <a16:creationId xmlns:a16="http://schemas.microsoft.com/office/drawing/2014/main" id="{7B3F71F2-A499-4FAB-802E-5A4B63F27FE3}"/>
              </a:ext>
            </a:extLst>
          </p:cNvPr>
          <p:cNvPicPr>
            <a:picLocks noGrp="1"/>
          </p:cNvPicPr>
          <p:nvPr>
            <p:ph idx="1"/>
          </p:nvPr>
        </p:nvPicPr>
        <p:blipFill>
          <a:blip r:embed="rId2"/>
          <a:stretch>
            <a:fillRect/>
          </a:stretch>
        </p:blipFill>
        <p:spPr>
          <a:xfrm>
            <a:off x="3754136" y="2133600"/>
            <a:ext cx="6585553" cy="3778250"/>
          </a:xfrm>
          <a:prstGeom prst="rect">
            <a:avLst/>
          </a:prstGeom>
        </p:spPr>
      </p:pic>
    </p:spTree>
    <p:extLst>
      <p:ext uri="{BB962C8B-B14F-4D97-AF65-F5344CB8AC3E}">
        <p14:creationId xmlns:p14="http://schemas.microsoft.com/office/powerpoint/2010/main" val="37349822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9024C-7197-4FBC-9438-0899865C2B52}"/>
              </a:ext>
            </a:extLst>
          </p:cNvPr>
          <p:cNvSpPr>
            <a:spLocks noGrp="1"/>
          </p:cNvSpPr>
          <p:nvPr>
            <p:ph type="title"/>
          </p:nvPr>
        </p:nvSpPr>
        <p:spPr/>
        <p:txBody>
          <a:bodyPr/>
          <a:lstStyle/>
          <a:p>
            <a:r>
              <a:rPr lang="en-US" b="1" i="1" dirty="0">
                <a:latin typeface="Times New Roman" panose="02020603050405020304" pitchFamily="18" charset="0"/>
                <a:cs typeface="Times New Roman" panose="02020603050405020304" pitchFamily="18" charset="0"/>
              </a:rPr>
              <a:t>Sequence Diagram of Choose Seat</a:t>
            </a:r>
            <a:endParaRPr lang="en-US" i="1" dirty="0">
              <a:latin typeface="Times New Roman" panose="02020603050405020304" pitchFamily="18" charset="0"/>
              <a:cs typeface="Times New Roman" panose="02020603050405020304" pitchFamily="18" charset="0"/>
            </a:endParaRPr>
          </a:p>
        </p:txBody>
      </p:sp>
      <p:pic>
        <p:nvPicPr>
          <p:cNvPr id="4" name="Content Placeholder 3">
            <a:extLst>
              <a:ext uri="{FF2B5EF4-FFF2-40B4-BE49-F238E27FC236}">
                <a16:creationId xmlns:a16="http://schemas.microsoft.com/office/drawing/2014/main" id="{BD008C0C-E2BA-459A-B507-75BC7708A9DB}"/>
              </a:ext>
            </a:extLst>
          </p:cNvPr>
          <p:cNvPicPr>
            <a:picLocks noGrp="1"/>
          </p:cNvPicPr>
          <p:nvPr>
            <p:ph idx="1"/>
          </p:nvPr>
        </p:nvPicPr>
        <p:blipFill>
          <a:blip r:embed="rId2"/>
          <a:stretch>
            <a:fillRect/>
          </a:stretch>
        </p:blipFill>
        <p:spPr>
          <a:xfrm>
            <a:off x="4805363" y="2133600"/>
            <a:ext cx="4483100" cy="3778250"/>
          </a:xfrm>
          <a:prstGeom prst="rect">
            <a:avLst/>
          </a:prstGeom>
        </p:spPr>
      </p:pic>
    </p:spTree>
    <p:extLst>
      <p:ext uri="{BB962C8B-B14F-4D97-AF65-F5344CB8AC3E}">
        <p14:creationId xmlns:p14="http://schemas.microsoft.com/office/powerpoint/2010/main" val="23240772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9B8394-1D43-477F-B045-0B9832213A4D}"/>
              </a:ext>
            </a:extLst>
          </p:cNvPr>
          <p:cNvSpPr>
            <a:spLocks noGrp="1"/>
          </p:cNvSpPr>
          <p:nvPr>
            <p:ph type="title"/>
          </p:nvPr>
        </p:nvSpPr>
        <p:spPr/>
        <p:txBody>
          <a:bodyPr/>
          <a:lstStyle/>
          <a:p>
            <a:r>
              <a:rPr lang="en-US" b="1" i="1" dirty="0">
                <a:latin typeface="Times New Roman" panose="02020603050405020304" pitchFamily="18" charset="0"/>
                <a:cs typeface="Times New Roman" panose="02020603050405020304" pitchFamily="18" charset="0"/>
              </a:rPr>
              <a:t>Sequence Diagram of Book Ticket</a:t>
            </a:r>
            <a:endParaRPr lang="en-US" i="1" dirty="0">
              <a:latin typeface="Times New Roman" panose="02020603050405020304" pitchFamily="18" charset="0"/>
              <a:cs typeface="Times New Roman" panose="02020603050405020304" pitchFamily="18" charset="0"/>
            </a:endParaRPr>
          </a:p>
        </p:txBody>
      </p:sp>
      <p:pic>
        <p:nvPicPr>
          <p:cNvPr id="4" name="Content Placeholder 3">
            <a:extLst>
              <a:ext uri="{FF2B5EF4-FFF2-40B4-BE49-F238E27FC236}">
                <a16:creationId xmlns:a16="http://schemas.microsoft.com/office/drawing/2014/main" id="{F2884F1A-54C4-4DF0-A96F-6DC37F3555A3}"/>
              </a:ext>
            </a:extLst>
          </p:cNvPr>
          <p:cNvPicPr>
            <a:picLocks noGrp="1"/>
          </p:cNvPicPr>
          <p:nvPr>
            <p:ph idx="1"/>
          </p:nvPr>
        </p:nvPicPr>
        <p:blipFill>
          <a:blip r:embed="rId2"/>
          <a:stretch>
            <a:fillRect/>
          </a:stretch>
        </p:blipFill>
        <p:spPr>
          <a:xfrm>
            <a:off x="4104335" y="2133600"/>
            <a:ext cx="5885156" cy="3778250"/>
          </a:xfrm>
          <a:prstGeom prst="rect">
            <a:avLst/>
          </a:prstGeom>
        </p:spPr>
      </p:pic>
    </p:spTree>
    <p:extLst>
      <p:ext uri="{BB962C8B-B14F-4D97-AF65-F5344CB8AC3E}">
        <p14:creationId xmlns:p14="http://schemas.microsoft.com/office/powerpoint/2010/main" val="1806911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B062E-4AC1-420F-B160-533FD2A8BBE1}"/>
              </a:ext>
            </a:extLst>
          </p:cNvPr>
          <p:cNvSpPr>
            <a:spLocks noGrp="1"/>
          </p:cNvSpPr>
          <p:nvPr>
            <p:ph type="title"/>
          </p:nvPr>
        </p:nvSpPr>
        <p:spPr/>
        <p:txBody>
          <a:bodyPr/>
          <a:lstStyle/>
          <a:p>
            <a:r>
              <a:rPr lang="en-US" b="1" i="1" dirty="0">
                <a:latin typeface="Times New Roman" panose="02020603050405020304" pitchFamily="18" charset="0"/>
                <a:cs typeface="Times New Roman" panose="02020603050405020304" pitchFamily="18" charset="0"/>
              </a:rPr>
              <a:t>Sequence Diagram of Buy Ticket Online</a:t>
            </a:r>
            <a:endParaRPr lang="en-US" i="1" dirty="0">
              <a:latin typeface="Times New Roman" panose="02020603050405020304" pitchFamily="18" charset="0"/>
              <a:cs typeface="Times New Roman" panose="02020603050405020304" pitchFamily="18" charset="0"/>
            </a:endParaRPr>
          </a:p>
        </p:txBody>
      </p:sp>
      <p:pic>
        <p:nvPicPr>
          <p:cNvPr id="4" name="Content Placeholder 3">
            <a:extLst>
              <a:ext uri="{FF2B5EF4-FFF2-40B4-BE49-F238E27FC236}">
                <a16:creationId xmlns:a16="http://schemas.microsoft.com/office/drawing/2014/main" id="{988DC26D-01E4-4298-A5E0-87EE682AFC63}"/>
              </a:ext>
            </a:extLst>
          </p:cNvPr>
          <p:cNvPicPr>
            <a:picLocks noGrp="1"/>
          </p:cNvPicPr>
          <p:nvPr>
            <p:ph idx="1"/>
          </p:nvPr>
        </p:nvPicPr>
        <p:blipFill>
          <a:blip r:embed="rId2"/>
          <a:stretch>
            <a:fillRect/>
          </a:stretch>
        </p:blipFill>
        <p:spPr>
          <a:xfrm>
            <a:off x="4431499" y="2133600"/>
            <a:ext cx="5230828" cy="3778250"/>
          </a:xfrm>
          <a:prstGeom prst="rect">
            <a:avLst/>
          </a:prstGeom>
        </p:spPr>
      </p:pic>
    </p:spTree>
    <p:extLst>
      <p:ext uri="{BB962C8B-B14F-4D97-AF65-F5344CB8AC3E}">
        <p14:creationId xmlns:p14="http://schemas.microsoft.com/office/powerpoint/2010/main" val="21052820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F8F145-4225-40FB-8106-96679E5D2256}"/>
              </a:ext>
            </a:extLst>
          </p:cNvPr>
          <p:cNvSpPr>
            <a:spLocks noGrp="1"/>
          </p:cNvSpPr>
          <p:nvPr>
            <p:ph type="title"/>
          </p:nvPr>
        </p:nvSpPr>
        <p:spPr/>
        <p:txBody>
          <a:bodyPr/>
          <a:lstStyle/>
          <a:p>
            <a:r>
              <a:rPr lang="en-US" b="1" i="1" dirty="0">
                <a:latin typeface="Times New Roman" panose="02020603050405020304" pitchFamily="18" charset="0"/>
                <a:cs typeface="Times New Roman" panose="02020603050405020304" pitchFamily="18" charset="0"/>
              </a:rPr>
              <a:t>Sequence Diagram of Ticket Management</a:t>
            </a:r>
            <a:endParaRPr lang="en-US" i="1" dirty="0">
              <a:latin typeface="Times New Roman" panose="02020603050405020304" pitchFamily="18" charset="0"/>
              <a:cs typeface="Times New Roman" panose="02020603050405020304" pitchFamily="18" charset="0"/>
            </a:endParaRPr>
          </a:p>
        </p:txBody>
      </p:sp>
      <p:pic>
        <p:nvPicPr>
          <p:cNvPr id="4" name="Content Placeholder 3">
            <a:extLst>
              <a:ext uri="{FF2B5EF4-FFF2-40B4-BE49-F238E27FC236}">
                <a16:creationId xmlns:a16="http://schemas.microsoft.com/office/drawing/2014/main" id="{B84B9465-5EF9-4F94-B500-69DDAD2E76AF}"/>
              </a:ext>
            </a:extLst>
          </p:cNvPr>
          <p:cNvPicPr>
            <a:picLocks noGrp="1"/>
          </p:cNvPicPr>
          <p:nvPr>
            <p:ph idx="1"/>
          </p:nvPr>
        </p:nvPicPr>
        <p:blipFill>
          <a:blip r:embed="rId2"/>
          <a:stretch>
            <a:fillRect/>
          </a:stretch>
        </p:blipFill>
        <p:spPr>
          <a:xfrm>
            <a:off x="4939561" y="2133600"/>
            <a:ext cx="4214703" cy="3778250"/>
          </a:xfrm>
          <a:prstGeom prst="rect">
            <a:avLst/>
          </a:prstGeom>
        </p:spPr>
      </p:pic>
    </p:spTree>
    <p:extLst>
      <p:ext uri="{BB962C8B-B14F-4D97-AF65-F5344CB8AC3E}">
        <p14:creationId xmlns:p14="http://schemas.microsoft.com/office/powerpoint/2010/main" val="2925454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3B72F0-747F-4EBD-A41D-665C5206AD5E}"/>
              </a:ext>
            </a:extLst>
          </p:cNvPr>
          <p:cNvSpPr>
            <a:spLocks noGrp="1"/>
          </p:cNvSpPr>
          <p:nvPr>
            <p:ph type="title"/>
          </p:nvPr>
        </p:nvSpPr>
        <p:spPr/>
        <p:txBody>
          <a:bodyPr/>
          <a:lstStyle/>
          <a:p>
            <a:r>
              <a:rPr lang="en-US" b="1" i="1" dirty="0">
                <a:latin typeface="Times New Roman" panose="02020603050405020304" pitchFamily="18" charset="0"/>
                <a:cs typeface="Times New Roman" panose="02020603050405020304" pitchFamily="18" charset="0"/>
              </a:rPr>
              <a:t>Sequence Diagram of Customer Detail Checking</a:t>
            </a:r>
            <a:endParaRPr lang="en-US" i="1" dirty="0">
              <a:latin typeface="Times New Roman" panose="02020603050405020304" pitchFamily="18" charset="0"/>
              <a:cs typeface="Times New Roman" panose="02020603050405020304" pitchFamily="18" charset="0"/>
            </a:endParaRPr>
          </a:p>
        </p:txBody>
      </p:sp>
      <p:pic>
        <p:nvPicPr>
          <p:cNvPr id="4" name="Content Placeholder 3">
            <a:extLst>
              <a:ext uri="{FF2B5EF4-FFF2-40B4-BE49-F238E27FC236}">
                <a16:creationId xmlns:a16="http://schemas.microsoft.com/office/drawing/2014/main" id="{F9E7D091-FA78-4626-9ABE-B501AB19C96A}"/>
              </a:ext>
            </a:extLst>
          </p:cNvPr>
          <p:cNvPicPr>
            <a:picLocks noGrp="1"/>
          </p:cNvPicPr>
          <p:nvPr>
            <p:ph idx="1"/>
          </p:nvPr>
        </p:nvPicPr>
        <p:blipFill>
          <a:blip r:embed="rId2"/>
          <a:stretch>
            <a:fillRect/>
          </a:stretch>
        </p:blipFill>
        <p:spPr>
          <a:xfrm>
            <a:off x="2970134" y="2133600"/>
            <a:ext cx="8153557" cy="3778250"/>
          </a:xfrm>
          <a:prstGeom prst="rect">
            <a:avLst/>
          </a:prstGeom>
        </p:spPr>
      </p:pic>
    </p:spTree>
    <p:extLst>
      <p:ext uri="{BB962C8B-B14F-4D97-AF65-F5344CB8AC3E}">
        <p14:creationId xmlns:p14="http://schemas.microsoft.com/office/powerpoint/2010/main" val="3839258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A70033-C4A7-46CA-80A9-6AAE7C045F7A}"/>
              </a:ext>
            </a:extLst>
          </p:cNvPr>
          <p:cNvSpPr>
            <a:spLocks noGrp="1"/>
          </p:cNvSpPr>
          <p:nvPr>
            <p:ph type="title"/>
          </p:nvPr>
        </p:nvSpPr>
        <p:spPr/>
        <p:txBody>
          <a:bodyPr/>
          <a:lstStyle/>
          <a:p>
            <a:r>
              <a:rPr lang="en-US" b="1" i="1" dirty="0">
                <a:latin typeface="Times New Roman" panose="02020603050405020304" pitchFamily="18" charset="0"/>
                <a:cs typeface="Times New Roman" panose="02020603050405020304" pitchFamily="18" charset="0"/>
              </a:rPr>
              <a:t>Sequence Diagram of Bus Route Management</a:t>
            </a:r>
            <a:endParaRPr lang="en-US" i="1" dirty="0">
              <a:latin typeface="Times New Roman" panose="02020603050405020304" pitchFamily="18" charset="0"/>
              <a:cs typeface="Times New Roman" panose="02020603050405020304" pitchFamily="18" charset="0"/>
            </a:endParaRPr>
          </a:p>
        </p:txBody>
      </p:sp>
      <p:pic>
        <p:nvPicPr>
          <p:cNvPr id="4" name="Content Placeholder 3">
            <a:extLst>
              <a:ext uri="{FF2B5EF4-FFF2-40B4-BE49-F238E27FC236}">
                <a16:creationId xmlns:a16="http://schemas.microsoft.com/office/drawing/2014/main" id="{10715083-990A-418C-A116-30F62B26EB8C}"/>
              </a:ext>
            </a:extLst>
          </p:cNvPr>
          <p:cNvPicPr>
            <a:picLocks noGrp="1"/>
          </p:cNvPicPr>
          <p:nvPr>
            <p:ph idx="1"/>
          </p:nvPr>
        </p:nvPicPr>
        <p:blipFill>
          <a:blip r:embed="rId2"/>
          <a:stretch>
            <a:fillRect/>
          </a:stretch>
        </p:blipFill>
        <p:spPr>
          <a:xfrm>
            <a:off x="3601039" y="2133599"/>
            <a:ext cx="5948313" cy="4578285"/>
          </a:xfrm>
          <a:prstGeom prst="rect">
            <a:avLst/>
          </a:prstGeom>
        </p:spPr>
      </p:pic>
    </p:spTree>
    <p:extLst>
      <p:ext uri="{BB962C8B-B14F-4D97-AF65-F5344CB8AC3E}">
        <p14:creationId xmlns:p14="http://schemas.microsoft.com/office/powerpoint/2010/main" val="7650718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3B08B3-ADC8-43B4-8496-22E5A01EB791}"/>
              </a:ext>
            </a:extLst>
          </p:cNvPr>
          <p:cNvSpPr>
            <a:spLocks noGrp="1"/>
          </p:cNvSpPr>
          <p:nvPr>
            <p:ph type="title"/>
          </p:nvPr>
        </p:nvSpPr>
        <p:spPr/>
        <p:txBody>
          <a:bodyPr/>
          <a:lstStyle/>
          <a:p>
            <a:r>
              <a:rPr lang="en-US" b="1" i="1" dirty="0">
                <a:latin typeface="Times New Roman" panose="02020603050405020304" pitchFamily="18" charset="0"/>
                <a:cs typeface="Times New Roman" panose="02020603050405020304" pitchFamily="18" charset="0"/>
              </a:rPr>
              <a:t>Sequence Diagram of Bus Schedule Management System</a:t>
            </a:r>
            <a:endParaRPr lang="en-US" i="1" dirty="0">
              <a:latin typeface="Times New Roman" panose="02020603050405020304" pitchFamily="18" charset="0"/>
              <a:cs typeface="Times New Roman" panose="02020603050405020304" pitchFamily="18" charset="0"/>
            </a:endParaRPr>
          </a:p>
        </p:txBody>
      </p:sp>
      <p:pic>
        <p:nvPicPr>
          <p:cNvPr id="4" name="Content Placeholder 3">
            <a:extLst>
              <a:ext uri="{FF2B5EF4-FFF2-40B4-BE49-F238E27FC236}">
                <a16:creationId xmlns:a16="http://schemas.microsoft.com/office/drawing/2014/main" id="{DD9C9F86-C434-4FC2-9A1D-CE25C5797897}"/>
              </a:ext>
            </a:extLst>
          </p:cNvPr>
          <p:cNvPicPr>
            <a:picLocks noGrp="1"/>
          </p:cNvPicPr>
          <p:nvPr>
            <p:ph idx="1"/>
          </p:nvPr>
        </p:nvPicPr>
        <p:blipFill>
          <a:blip r:embed="rId2"/>
          <a:stretch>
            <a:fillRect/>
          </a:stretch>
        </p:blipFill>
        <p:spPr>
          <a:xfrm>
            <a:off x="4277287" y="1905000"/>
            <a:ext cx="5542961" cy="4615992"/>
          </a:xfrm>
          <a:prstGeom prst="rect">
            <a:avLst/>
          </a:prstGeom>
        </p:spPr>
      </p:pic>
    </p:spTree>
    <p:extLst>
      <p:ext uri="{BB962C8B-B14F-4D97-AF65-F5344CB8AC3E}">
        <p14:creationId xmlns:p14="http://schemas.microsoft.com/office/powerpoint/2010/main" val="22280417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550930-DAC1-49BB-AAEC-4C4F32A06967}"/>
              </a:ext>
            </a:extLst>
          </p:cNvPr>
          <p:cNvSpPr>
            <a:spLocks noGrp="1"/>
          </p:cNvSpPr>
          <p:nvPr>
            <p:ph type="title"/>
          </p:nvPr>
        </p:nvSpPr>
        <p:spPr/>
        <p:txBody>
          <a:bodyPr/>
          <a:lstStyle/>
          <a:p>
            <a:r>
              <a:rPr lang="en-US" b="1" i="1" dirty="0">
                <a:latin typeface="Times New Roman" panose="02020603050405020304" pitchFamily="18" charset="0"/>
                <a:cs typeface="Times New Roman" panose="02020603050405020304" pitchFamily="18" charset="0"/>
              </a:rPr>
              <a:t>Conclusion</a:t>
            </a:r>
            <a:br>
              <a:rPr lang="en-US" dirty="0">
                <a:latin typeface="Times New Roman" panose="02020603050405020304" pitchFamily="18"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AFF29367-3DCB-4348-8231-6A68F0EC65D5}"/>
              </a:ext>
            </a:extLst>
          </p:cNvPr>
          <p:cNvSpPr>
            <a:spLocks noGrp="1"/>
          </p:cNvSpPr>
          <p:nvPr>
            <p:ph idx="1"/>
          </p:nvPr>
        </p:nvSpPr>
        <p:spPr/>
        <p:txBody>
          <a:bodyPr/>
          <a:lstStyle/>
          <a:p>
            <a:pPr marL="0" indent="0" algn="just">
              <a:buNone/>
            </a:pPr>
            <a:r>
              <a:rPr lang="en-US" dirty="0">
                <a:latin typeface="Times New Roman" panose="02020603050405020304" pitchFamily="18" charset="0"/>
                <a:cs typeface="Times New Roman" panose="02020603050405020304" pitchFamily="18" charset="0"/>
              </a:rPr>
              <a:t>	In conclusion, our next step is to focus on completing the design modeling, which will greatly enhance the functionality and user experience of our Bus Ticket Management System. This crucial future work promises to bring innovative solutions and improvements, ensuring our system meets the needs of our users.</a:t>
            </a:r>
          </a:p>
          <a:p>
            <a:pPr marL="0" indent="0">
              <a:buNone/>
            </a:pPr>
            <a:endParaRPr lang="en-US" dirty="0"/>
          </a:p>
        </p:txBody>
      </p:sp>
    </p:spTree>
    <p:extLst>
      <p:ext uri="{BB962C8B-B14F-4D97-AF65-F5344CB8AC3E}">
        <p14:creationId xmlns:p14="http://schemas.microsoft.com/office/powerpoint/2010/main" val="129582964"/>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2E5369"/>
      </a:dk2>
      <a:lt2>
        <a:srgbClr val="CFE2E7"/>
      </a:lt2>
      <a:accent1>
        <a:srgbClr val="353535"/>
      </a:accent1>
      <a:accent2>
        <a:srgbClr val="31B4E6"/>
      </a:accent2>
      <a:accent3>
        <a:srgbClr val="265991"/>
      </a:accent3>
      <a:accent4>
        <a:srgbClr val="7E40CC"/>
      </a:accent4>
      <a:accent5>
        <a:srgbClr val="B927E9"/>
      </a:accent5>
      <a:accent6>
        <a:srgbClr val="E833BF"/>
      </a:accent6>
      <a:hlink>
        <a:srgbClr val="2DA0F1"/>
      </a:hlink>
      <a:folHlink>
        <a:srgbClr val="7ED1E6"/>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4F34B87B-9C7A-41AE-A6CB-48536223DFF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97E240F7C221141878A1A14C0345792" ma:contentTypeVersion="14" ma:contentTypeDescription="Create a new document." ma:contentTypeScope="" ma:versionID="bcf543386aa62aef8d1340e067f8088e">
  <xsd:schema xmlns:xsd="http://www.w3.org/2001/XMLSchema" xmlns:xs="http://www.w3.org/2001/XMLSchema" xmlns:p="http://schemas.microsoft.com/office/2006/metadata/properties" xmlns:ns2="03db5044-8d05-4f57-8eba-ccae5d351a7d" xmlns:ns3="f37c36a7-dba5-49cb-b9ff-884db17804e6" targetNamespace="http://schemas.microsoft.com/office/2006/metadata/properties" ma:root="true" ma:fieldsID="70b011ae0ba25836421857f24a7be266" ns2:_="" ns3:_="">
    <xsd:import namespace="03db5044-8d05-4f57-8eba-ccae5d351a7d"/>
    <xsd:import namespace="f37c36a7-dba5-49cb-b9ff-884db17804e6"/>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SearchPropertie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3db5044-8d05-4f57-8eba-ccae5d351a7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6d56e5b9-61de-441f-befa-22876f1982bb" ma:termSetId="09814cd3-568e-fe90-9814-8d621ff8fb84" ma:anchorId="fba54fb3-c3e1-fe81-a776-ca4b69148c4d" ma:open="true" ma:isKeyword="false">
      <xsd:complexType>
        <xsd:sequence>
          <xsd:element ref="pc:Terms" minOccurs="0" maxOccurs="1"/>
        </xsd:sequence>
      </xsd:complex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Location" ma:index="21"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37c36a7-dba5-49cb-b9ff-884db17804e6"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37171835-9150-4313-a50f-7b75fca6fede}" ma:internalName="TaxCatchAll" ma:showField="CatchAllData" ma:web="f37c36a7-dba5-49cb-b9ff-884db17804e6">
      <xsd:complexType>
        <xsd:complexContent>
          <xsd:extension base="dms:MultiChoiceLookup">
            <xsd:sequence>
              <xsd:element name="Value" type="dms:Lookup" maxOccurs="unbounded" minOccurs="0" nillable="true"/>
            </xsd:sequence>
          </xsd:extension>
        </xsd:complexContent>
      </xsd:complexType>
    </xsd:element>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45ACB76-A6D6-46C2-AE28-019DD11AC6A8}"/>
</file>

<file path=customXml/itemProps2.xml><?xml version="1.0" encoding="utf-8"?>
<ds:datastoreItem xmlns:ds="http://schemas.openxmlformats.org/officeDocument/2006/customXml" ds:itemID="{F7D16FA0-656F-4DBC-A161-7F81473AFB45}"/>
</file>

<file path=docProps/app.xml><?xml version="1.0" encoding="utf-8"?>
<Properties xmlns="http://schemas.openxmlformats.org/officeDocument/2006/extended-properties" xmlns:vt="http://schemas.openxmlformats.org/officeDocument/2006/docPropsVTypes">
  <Template>Wisp</Template>
  <TotalTime>162</TotalTime>
  <Words>460</Words>
  <Application>Microsoft Office PowerPoint</Application>
  <PresentationFormat>Widescreen</PresentationFormat>
  <Paragraphs>86</Paragraphs>
  <Slides>28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28</vt:i4>
      </vt:variant>
    </vt:vector>
  </HeadingPairs>
  <TitlesOfParts>
    <vt:vector size="35" baseType="lpstr">
      <vt:lpstr>Arial</vt:lpstr>
      <vt:lpstr>Calibri</vt:lpstr>
      <vt:lpstr>Century Gothic</vt:lpstr>
      <vt:lpstr>Times New Roman</vt:lpstr>
      <vt:lpstr>Wingdings</vt:lpstr>
      <vt:lpstr>Wingdings 3</vt:lpstr>
      <vt:lpstr>Wisp</vt:lpstr>
      <vt:lpstr>Online Bus Ticket Management Modeling</vt:lpstr>
      <vt:lpstr>Table of Contents</vt:lpstr>
      <vt:lpstr>Introduction</vt:lpstr>
      <vt:lpstr>Software Requirement Specification</vt:lpstr>
      <vt:lpstr>Functional Requirements</vt:lpstr>
      <vt:lpstr>Other Nonfunctional Requirements</vt:lpstr>
      <vt:lpstr>Requirement Analysis Modeling</vt:lpstr>
      <vt:lpstr>Scenario-Based Modeling  </vt:lpstr>
      <vt:lpstr>Use Case Diagram of Online Bus Ticket Management Modelling</vt:lpstr>
      <vt:lpstr>Class-Based Modeling </vt:lpstr>
      <vt:lpstr>Class Diagram of Online Bus Ticket Management</vt:lpstr>
      <vt:lpstr>Conceptual Data Modeling </vt:lpstr>
      <vt:lpstr>E-R Diagram of Online Bus Ticket Management</vt:lpstr>
      <vt:lpstr>Process Modeling </vt:lpstr>
      <vt:lpstr>Context DFD of Bus Ticket Management</vt:lpstr>
      <vt:lpstr>Level 0 Diagram </vt:lpstr>
      <vt:lpstr>Level 1 Diagram</vt:lpstr>
      <vt:lpstr>Level 1 Diagram(Cont’d)</vt:lpstr>
      <vt:lpstr>Behavior Modeling </vt:lpstr>
      <vt:lpstr>Sequence diagram of Overview the system</vt:lpstr>
      <vt:lpstr>Sequence Diagram of Choose Seat</vt:lpstr>
      <vt:lpstr>Sequence Diagram of Book Ticket</vt:lpstr>
      <vt:lpstr>Sequence Diagram of Buy Ticket Online</vt:lpstr>
      <vt:lpstr>Sequence Diagram of Ticket Management</vt:lpstr>
      <vt:lpstr>Sequence Diagram of Customer Detail Checking</vt:lpstr>
      <vt:lpstr>Sequence Diagram of Bus Route Management</vt:lpstr>
      <vt:lpstr>Sequence Diagram of Bus Schedule Management System</vt:lpstr>
      <vt:lpstr>Conclusion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Online Bus Ticket Management Modeling</dc:title>
  <dc:creator>Paing Paing Ko</dc:creator>
  <cp:lastModifiedBy>Paing Paing Ko</cp:lastModifiedBy>
  <cp:revision>24</cp:revision>
  <dcterms:created xsi:type="dcterms:W3CDTF">2024-03-11T09:33:39Z</dcterms:created>
  <dcterms:modified xsi:type="dcterms:W3CDTF">2024-03-12T03:50:06Z</dcterms:modified>
</cp:coreProperties>
</file>